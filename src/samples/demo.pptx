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IdLst>
    <p:sldId id="256" r:id="rId1"/>
    <p:sldId id="257" r:id="rId2"/>
  </p:sldIdLst>
  <p:sldSz cx="12192000" cy="6858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>
<Relationship Id="rId2" Type="http://schemas.openxmlformats.org/officeDocument/2006/relationships/image" Target="../media/image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>
          <a:xfrm>
            <a:off x="914400" y="914400"/>
            <a:ext cx="10363200" cy="1500000"/>
          </a:xfrm>
        </p:spPr>
        <p:txBody>
          <a:bodyPr/>
          <a:p>
            <a:r>
              <a:rPr lang="en-US" sz="4400" b="1"/>
              <a:t>Quarterly Business Review</a:t>
            </a:r>
          </a:p>
        </p:txBody>
      </p:sp>
      <p:sp>
        <p:nvSpPr>
          <p:cNvPr id="2" name="t"/>
          <p:cNvSpPr/>
          <p:nvPr/>
        </p:nvSpPr>
        <p:spPr>
          <a:xfrm>
            <a:off x="914400" y="2743200"/>
            <a:ext cx="10363200" cy="3000000"/>
          </a:xfrm>
        </p:spPr>
        <p:txBody>
          <a:bodyPr/>
          <a:p>
            <a:r>
              <a:rPr lang="en-US" sz="2400" b="0"/>
              <a:t>Prepared by the analytics team</a:t>
            </a:r>
          </a:p>
          <a:p>
            <a:r>
              <a:rPr lang="en-US" sz="2000" b="0"/>
              <a:t>July 2026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"/>
          <p:cNvSpPr/>
          <p:nvPr>
            <p:ph type="title"/>
          </p:nvPr>
        </p:nvSpPr>
        <p:spPr>
          <a:xfrm>
            <a:off x="914400" y="457200"/>
            <a:ext cx="10363200" cy="1000000"/>
          </a:xfrm>
        </p:spPr>
        <p:txBody>
          <a:bodyPr/>
          <a:p>
            <a:r>
              <a:rPr lang="en-US" sz="3200" b="1"/>
              <a:t>Key Metrics</a:t>
            </a:r>
          </a:p>
        </p:txBody>
      </p:sp>
      <p:sp>
        <p:nvSpPr>
          <p:cNvPr id="2" name="t"/>
          <p:cNvSpPr/>
          <p:nvPr/>
        </p:nvSpPr>
        <p:spPr>
          <a:xfrm>
            <a:off x="914400" y="1828800"/>
            <a:ext cx="6000000" cy="3000000"/>
          </a:xfrm>
        </p:spPr>
        <p:txBody>
          <a:bodyPr/>
          <a:p>
            <a:r>
              <a:rPr lang="en-US" sz="2000" b="0"/>
              <a:t>Revenue up 13.8% QoQ</a:t>
            </a:r>
          </a:p>
          <a:p>
            <a:r>
              <a:rPr lang="en-US" sz="2000" b="0"/>
              <a:t>Churn below 2% for the first time</a:t>
            </a:r>
          </a:p>
          <a:p>
            <a:r>
              <a:rPr lang="en-US" sz="2000" b="0"/>
              <a:t>NPS at 61</a:t>
            </a:r>
          </a:p>
        </p:txBody>
      </p:sp>
      <p:pic>
        <p:nvPicPr>
          <p:cNvPr id="5" name="chart"/>
          <p:cNvPicPr/>
          <p:nvPr/>
        </p:nvPicPr>
        <p:blipFill>
          <a:blip r:embed="rId2"/>
          <a:stretch>
            <a:fillRect/>
          </a:stretch>
        </p:blipFill>
        <p:spPr>
          <a:xfrm>
            <a:off x="7772400" y="1828800"/>
            <a:ext cx="3000000" cy="3000000"/>
          </a:xfrm>
        </p:spPr>
      </p:pic>
    </p:spTree>
  </p:cSld>
</p:sld>
</file>